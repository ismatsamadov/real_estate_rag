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280160"/>
            <a:ext cx="164592" cy="164592"/>
          </a:xfrm>
          <a:prstGeom prst="ellipse">
            <a:avLst/>
          </a:prstGeom>
          <a:solidFill>
            <a:srgbClr val="B8893A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12070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THIS CONVERSATION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Estate RAG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grounded question-answering system over </a:t>
            </a:r>
            <a:pPr indent="0" marL="0">
              <a:buNone/>
            </a:pPr>
            <a:r>
              <a:rPr lang="en-US" sz="2200" b="1" i="1" dirty="0">
                <a:solidFill>
                  <a:srgbClr val="B88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pasharealestate.az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3657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278 documents  ·  849 chunks  ·  EN / AZ / RU  ·  hybrid retrieval  ·  cited answers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4572000"/>
            <a:ext cx="1097280" cy="36576"/>
          </a:xfrm>
          <a:prstGeom prst="rect">
            <a:avLst/>
          </a:prstGeom>
          <a:solidFill>
            <a:srgbClr val="B8893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Ismat Samadov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5120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Full-Stack Engineer  ·  Baku, Azerbaijan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5440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with PASHA Real Estate Group  ·  20 May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0" y="5440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ismatsamadov.com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FRAME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your corpus, your domain.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retrieval pipeline I'm about to demo runs against </a:t>
            </a:r>
            <a:pPr indent="0" marL="0">
              <a:spcAft>
                <a:spcPts val="600"/>
              </a:spcAft>
              <a:buNone/>
            </a:pPr>
            <a:r>
              <a:rPr lang="en-US" sz="2200" b="1" i="1" dirty="0">
                <a:solidFill>
                  <a:srgbClr val="B88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pasharealestate.az</a:t>
            </a:r>
            <a:pPr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I scraped your public site, embedded your listings, and built an end-to-end RAG that answers questions about Knightsbridge, St Regis, Crescent Residences, Mardi Mekan, Liman Estate, and Ritz-Carlton — with every claim grounded in a source page you can click.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4206240"/>
            <a:ext cx="3291840" cy="146304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4206240"/>
            <a:ext cx="73152" cy="1463040"/>
          </a:xfrm>
          <a:prstGeom prst="rect">
            <a:avLst/>
          </a:prstGeom>
          <a:solidFill>
            <a:srgbClr val="B8893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343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278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5120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indexed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4206240"/>
            <a:ext cx="3291840" cy="146304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4206240"/>
            <a:ext cx="73152" cy="1463040"/>
          </a:xfrm>
          <a:prstGeom prst="rect">
            <a:avLst/>
          </a:prstGeom>
          <a:solidFill>
            <a:srgbClr val="B8893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4343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849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663440" y="5120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chunks (1024-d)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83880" y="4206240"/>
            <a:ext cx="3291840" cy="146304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14" name="Shape 12"/>
          <p:cNvSpPr/>
          <p:nvPr/>
        </p:nvSpPr>
        <p:spPr>
          <a:xfrm>
            <a:off x="8183880" y="4206240"/>
            <a:ext cx="73152" cy="1463040"/>
          </a:xfrm>
          <a:prstGeom prst="rect">
            <a:avLst/>
          </a:prstGeom>
          <a:solidFill>
            <a:srgbClr val="B8893A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4343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412480" y="5120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languages: EN / AZ / RU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Ismat Samadov  ·  ismatsamadov.com  ·  github.com/ismatsamadov/real_estate_rag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in one repo, one database.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73736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B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1737360" cy="41148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9568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discovery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per-language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90572" y="2331720"/>
            <a:ext cx="109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8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404872" y="1920240"/>
            <a:ext cx="173736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B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04872" y="1920240"/>
            <a:ext cx="1737360" cy="41148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12" name="Text 10"/>
          <p:cNvSpPr/>
          <p:nvPr/>
        </p:nvSpPr>
        <p:spPr>
          <a:xfrm>
            <a:off x="2450592" y="19568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Chunk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96312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listing-aware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96312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src/chunker.js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46804" y="2331720"/>
            <a:ext cx="109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8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261104" y="1920240"/>
            <a:ext cx="173736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B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61104" y="1920240"/>
            <a:ext cx="1737360" cy="41148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4306824" y="19568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52544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4-large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52544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src/embedder.js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03036" y="2331720"/>
            <a:ext cx="109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8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117336" y="1920240"/>
            <a:ext cx="173736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B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17336" y="1920240"/>
            <a:ext cx="1737360" cy="41148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24" name="Text 22"/>
          <p:cNvSpPr/>
          <p:nvPr/>
        </p:nvSpPr>
        <p:spPr>
          <a:xfrm>
            <a:off x="6163056" y="19568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08776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+ RRF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08776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src/retriever.js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59268" y="2331720"/>
            <a:ext cx="109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8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973568" y="1920240"/>
            <a:ext cx="173736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B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73568" y="1920240"/>
            <a:ext cx="1737360" cy="41148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30" name="Text 28"/>
          <p:cNvSpPr/>
          <p:nvPr/>
        </p:nvSpPr>
        <p:spPr>
          <a:xfrm>
            <a:off x="8019288" y="19568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Rerank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65008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2.5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65008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cross-encoder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715500" y="2331720"/>
            <a:ext cx="109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8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9829800" y="1920240"/>
            <a:ext cx="173736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B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29800" y="1920240"/>
            <a:ext cx="1737360" cy="41148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36" name="Text 34"/>
          <p:cNvSpPr/>
          <p:nvPr/>
        </p:nvSpPr>
        <p:spPr>
          <a:xfrm>
            <a:off x="9875520" y="19568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921240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92124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src/llm.js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4206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API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834640" y="420624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(App Router) on Vercel — streaming SSE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46268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834640" y="462686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Postgres + pgvector (HNSW) + GIN/FTS — one DB, one transaction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5047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834640" y="504748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voyage-4-large (1024-d, multilingual MTEB leader)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8640" y="54681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834640" y="546811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rerank-2.5 cross-encoder over top-32 fused candidates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49" name="Text 47"/>
          <p:cNvSpPr/>
          <p:nvPr/>
        </p:nvSpPr>
        <p:spPr>
          <a:xfrm>
            <a:off x="777240" y="61447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database · one transaction · one deploy.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tables: documents, rag_chunks, sessions, messages, conversation_memory, favorites, user_profile, uploads — all in Neon.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Ismat Samadov  ·  ismatsamadov.com  ·  github.com/ismatsamadov/real_estate_rag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minutes, four queries, your data.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532120" cy="2286000"/>
          </a:xfrm>
          <a:prstGeom prst="rect">
            <a:avLst/>
          </a:prstGeom>
          <a:solidFill>
            <a:srgbClr val="1A2B4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73152" cy="2286000"/>
          </a:xfrm>
          <a:prstGeom prst="rect">
            <a:avLst/>
          </a:prstGeom>
          <a:solidFill>
            <a:srgbClr val="B889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8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9385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Multilingual + domain idiom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 otaqlı, dəniz mənzərəli mənzillər" — surfaces 2-bedroom + 1 living room sea-view listings.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src/rag.js:143  ·  preprocessRoomTerminology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1737360"/>
            <a:ext cx="5532120" cy="2286000"/>
          </a:xfrm>
          <a:prstGeom prst="rect">
            <a:avLst/>
          </a:prstGeom>
          <a:solidFill>
            <a:srgbClr val="1A2B47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1737360"/>
            <a:ext cx="73152" cy="2286000"/>
          </a:xfrm>
          <a:prstGeom prst="rect">
            <a:avLst/>
          </a:prstGeom>
          <a:solidFill>
            <a:srgbClr val="B8893A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1920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8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52360" y="19385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Multi-turn follow-up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66560" y="242316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is the cheapest?" — Haiku rewrites the standalone query against history before retrieval.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35661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src/rag.js:167  ·  rewriteForRetrieval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5532120" cy="2286000"/>
          </a:xfrm>
          <a:prstGeom prst="rect">
            <a:avLst/>
          </a:prstGeom>
          <a:solidFill>
            <a:srgbClr val="1A2B47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434840"/>
            <a:ext cx="73152" cy="2286000"/>
          </a:xfrm>
          <a:prstGeom prst="rect">
            <a:avLst/>
          </a:prstGeom>
          <a:solidFill>
            <a:srgbClr val="B8893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617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8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46360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Cross-session memory + profile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512064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session, no in-session history. "Based on what you know about me, recommend a 2BR." Profile + [Mn] memory fire.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626364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src/profile.js:81  ·  src/memory.js:133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92240" y="4434840"/>
            <a:ext cx="5532120" cy="2286000"/>
          </a:xfrm>
          <a:prstGeom prst="rect">
            <a:avLst/>
          </a:prstGeom>
          <a:solidFill>
            <a:srgbClr val="1A2B47"/>
          </a:solidFill>
          <a:ln/>
        </p:spPr>
      </p:sp>
      <p:sp>
        <p:nvSpPr>
          <p:cNvPr id="23" name="Shape 21"/>
          <p:cNvSpPr/>
          <p:nvPr/>
        </p:nvSpPr>
        <p:spPr>
          <a:xfrm>
            <a:off x="6492240" y="4434840"/>
            <a:ext cx="73152" cy="2286000"/>
          </a:xfrm>
          <a:prstGeom prst="rect">
            <a:avLst/>
          </a:prstGeom>
          <a:solidFill>
            <a:srgbClr val="B8893A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4617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8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52360" y="46360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 upload → on-the-fly RAG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66560" y="512064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PASHA brochure or contract into the chat. Ask "what does this say about parking?" — same pipeline, session-scoped corpus.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626364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src/documents.js  ·  src/pdf.js  ·  src/rag.js:28  looksLikeMetaDocQuery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RETRIEVAL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retrieval, one SQL CTE.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pure vector search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alone misses proper nouns.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"Knightsbridge" has low semantic similarity to "luxury apartment" — surfaces other luxury developments first, finds Knightsbridge on rank 3 or 4.</a:t>
            </a:r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catches the exact match.  Reciprocal Rank Fusion combines both rank lists with no fusion weight to tune (scale-invariant).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rerank-2.5 (cross-encoder) corrects the ANN errors HNSW leaves behind — single largest quality bump on the eval.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828800"/>
            <a:ext cx="5394960" cy="365760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920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src/retriever.js:148  ·  hybridSearch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22860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vector_hits AS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id, ROW_NUMBER() OVER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ORDER BY embedding &lt;=&gt; $1) AS rnk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rag_chunks LIMIT $3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lexical_hits AS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id, ROW_NUMBER() OVER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ORDER BY ts_rank_cd(tsv, $2) DESC) AS rnk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rag_chunks WHERE tsv @@ $2 LIMIT $3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fused AS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id, SUM(1.0 / (60 + rnk)) AS rrf_score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(vector_hits UNION ALL lexical_hits) 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... FROM fused ORDER BY rrf_score DESC;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solidFill>
            <a:srgbClr val="E8D9B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58064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most demos miss: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tsvector uses </a:t>
            </a:r>
            <a:pPr indent="0" marL="0">
              <a:buNone/>
            </a:pPr>
            <a:r>
              <a:rPr lang="en-US" sz="1150" b="1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'simple'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</a:t>
            </a:r>
            <a:pPr indent="0" marL="0">
              <a:buNone/>
            </a:pPr>
            <a:r>
              <a:rPr lang="en-US" sz="1150" b="1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'english'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English stemming mangles "Knightsbridge" → "knightsbridg" and breaks exact match. Corpus is multilingual; </a:t>
            </a:r>
            <a:pPr indent="0" marL="0">
              <a:buNone/>
            </a:pPr>
            <a:r>
              <a:rPr lang="en-US" sz="1150" b="1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'simple'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tokenizes + lowercases without stemming.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Ismat Samadov  ·  ismatsamadov.com  ·  github.com/ismatsamadov/real_estate_rag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DOMAIN BUG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"otaqlı" story — fixing a one-bedroom lie.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asks: "3 otaqlı mənzillər"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Assistant explains AZ convention correctly (3 otaqlı = 2 BR + 1 living)…
</a:t>
            </a:r>
            <a:pPr indent="0" marL="0">
              <a:buNone/>
            </a:pPr>
            <a:r>
              <a:rPr lang="en-US" sz="13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returns 3-bedroom listings anyway. Off by one.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fix (two layers, not one)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069080"/>
            <a:ext cx="5349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4069080"/>
            <a:ext cx="5349240" cy="45720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 ·  retrieval-time preprocessor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4617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src/rag.js:143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OTAQLI_RE = /(?&lt;!yataq\s)(\d+)\s*[-\s]?\s*otaq(?:lı|li)?(?=\s|[^\p{L}\d]|$)/giu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55321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bug inside the bug: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regex used </a:t>
            </a:r>
            <a:pPr indent="0" marL="0">
              <a:buNone/>
            </a:pPr>
            <a:r>
              <a:rPr lang="en-US" sz="1050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\b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ASCII-only in Node. The Azerbaijani </a:t>
            </a:r>
            <a:pPr indent="0" marL="0">
              <a:buNone/>
            </a:pPr>
            <a:r>
              <a:rPr lang="en-US" sz="1050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ı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(U+0131) is not in the ASCII word set. Fix: </a:t>
            </a:r>
            <a:pPr indent="0" marL="0">
              <a:buNone/>
            </a:pPr>
            <a:r>
              <a:rPr lang="en-US" sz="1050" b="1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flag + Unicode-aware lookahead.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4069080"/>
            <a:ext cx="5349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4069080"/>
            <a:ext cx="5349240" cy="45720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·  chunker metadata split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4617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src/chunker.js:194  ·  src/chunker.js:203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489204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BEDROOM_PATTERNS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matches only explicit bedroom phrasing  (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bedroom · yataq otaq · спальня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050" b="1" dirty="0">
                <a:solidFill>
                  <a:srgbClr val="0E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ROOM_PATTERNS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(new) matches total rooms  (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otaqlı · -room · комнатная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metadata.bedrooms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050" dirty="0">
                <a:solidFill>
                  <a:srgbClr val="0E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metadata.total_rooms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distinct retrieval-time filters.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Ismat Samadov  ·  ismatsamadov.com  ·  github.com/ismatsamadov/real_estate_rag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GROUNDING &amp; EVAL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 contract + LLM-as-judge harness.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 contract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src/prompt.js:168  ·  buildMessages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ends with [Sn].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[Sn] maps to a real retrieved source.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[Mn] markers are memory continuity — never citable as fact.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gracefully when sources don't support the question.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Claude (over GPT / Gemini): </a:t>
            </a:r>
            <a:pPr indent="0" marL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eval runs of comparable systems, Sonnet attaches [Sn] markers reliably; GPT-4o drifts ~5–10% on invalid citations. Refusal calibration is also better.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5212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src/prompt.js:221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cache_control: ephemeral (prompt caching wired)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0" y="1783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results — 28-question multilingual harness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40280"/>
          <a:ext cx="52120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920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/ 22  ·  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 validity (no invalid [Sn])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invalid  ·  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Refusal correct (trick questions)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/ 25  ·  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match (EN / AZ / RU)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/ 25  ·  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≥ 4 /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/ 25  ·  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 ≥ 4 /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A162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/ 25  ·  84%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0" y="5303520"/>
            <a:ext cx="5212080" cy="10515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0" y="5303520"/>
            <a:ext cx="73152" cy="1051560"/>
          </a:xfrm>
          <a:prstGeom prst="rect">
            <a:avLst/>
          </a:prstGeom>
          <a:solidFill>
            <a:srgbClr val="A16207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0" y="534924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16% faithfulness miss is real and named in the eval report. 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Cluster: luxury-brand project lookups where Claude leaks Marriott Bonvoy / Ritz-Carlton training knowledge. Mitigations on the roadmap: negative-example prompts, self-critique pass, tool-use for fact-bearing fields.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Ismat Samadov  ·  ismatsamadov.com  ·  github.com/ismatsamadov/real_estate_rag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BRING YOUR OWN DOCUMENT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 upload → on-the-fly RAG.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shaped for your domain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852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README says it directly: </a:t>
            </a:r>
            <a:pPr indent="0" marL="0">
              <a:buNone/>
            </a:pPr>
            <a:r>
              <a:rPr lang="en-US" sz="1300" i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"PASHA Real Estate's near-term opportunity is document AI — contracts, brochures, building specifications. A user shouldn't have to wait for the corpus to be re-scraped to ask what does this brochure say about parking?"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5262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89204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PDF in chat (≤10 MB)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pdfjs-dist extracts text per page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chunker + Voyage embeddings as the public corpus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Upserts into documents + rag_chunks with session_id denormalized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scoped per session, same hybrid + rerank pipeline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0" y="1828800"/>
            <a:ext cx="4754880" cy="457200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0" y="1828800"/>
            <a:ext cx="73152" cy="4572000"/>
          </a:xfrm>
          <a:prstGeom prst="rect">
            <a:avLst/>
          </a:prstGeom>
          <a:solidFill>
            <a:srgbClr val="B8893A"/>
          </a:solidFill>
          <a:ln/>
        </p:spPr>
      </p:sp>
      <p:sp>
        <p:nvSpPr>
          <p:cNvPr id="10" name="Text 8"/>
          <p:cNvSpPr/>
          <p:nvPr/>
        </p:nvSpPr>
        <p:spPr>
          <a:xfrm>
            <a:off x="7086600" y="1920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8660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src/pdf.js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4183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pdfjs-dist text extraction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8660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src/documents.js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4183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+ session scoping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8660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src/chunker.js:314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1832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chunkDocument — shared with public corpus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8660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src/embedder.js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41832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embed (inputType: document)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8660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src/rag.js:28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1832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looksLikeMetaDocQuery — meta-doc detection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8660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src/rag.js:49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418320" y="4389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fetchUserDocChunks — stride-sample fallback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86600" y="4800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app/uploads/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418320" y="4800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uploads library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86600" y="5212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app/api/uploads/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18320" y="5212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+ delete API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86600" y="57150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live: </a:t>
            </a:r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174-page PASHA Bank Annual Report → coherent 7-section analysis with a self-aware Limitations section.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Ismat Samadov  ·  ismatsamadov.com  ·  github.com/ismatsamadov/real_estate_rag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YOUR DOMAINS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pipeline, three target functions.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7033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3703320" cy="64008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4767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B88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 analysis assistant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contracts as PDFs, chunk by clause structure, RAG with structured outputs that flag missing standard clauses, non-standard risk language, and counterparty obligations.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475488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Reuse: src/pdf.js  +  src/chunker.js  +  citation contract (src/prompt.js)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53492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 handled: hallucinated obligations → strict citation grounding + refusal when retrieval is empty.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57700" y="1828800"/>
            <a:ext cx="37033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57700" y="1828800"/>
            <a:ext cx="3703320" cy="64008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4686300" y="194767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B88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PROCUREMENT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86300" y="2606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Tender / offer comparison agent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86300" y="301752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vendor offers in mixed formats (PDFs, Excels, emails). LLM extraction step normalises to a structured schema. Surface a comparison table with deviations from RFP requirements.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86300" y="475488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Reuse: src/documents.js  +  Voyage embed + rerank  +  schema-validated output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86300" y="53492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vendor formats already covered by the listing-aware chunker pattern.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66760" y="1828800"/>
            <a:ext cx="37033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1828800"/>
            <a:ext cx="3703320" cy="64008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0" y="194767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B88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95360" y="2606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BOQ extraction &amp; reconciliation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95360" y="301752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line items from contractor BOQs (Excel + scanned PDFs), reconcile against master spec, flag pricing outliers and missing items. Heavy on table extraction — same primitives as document AI.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95360" y="475488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8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Reuse: src/chunker.js:257  extractListingMetadata pattern  →  BOQ line items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95360" y="53492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Atomic-unit + metadata pattern from listings transfers directly to BOQ line items.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Ismat Samadov  ·  ismatsamadov.com  ·  github.com/ismatsamadov/real_estate_rag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HONEST READ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limits and the next 90 days.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weaknesses (not hidden)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84%, not 100% — luxury-brand training-data leakage.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cache not hitting — system prompt 900 tokens, Anthropic Sonnet threshold 1024.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set is 28 questions — needs scale to 100+ with held-out test split.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 eval gate — should block merge on &gt;5% faithfulness regression.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Demo-grade auth (single shared credential) — production needs NextAuth + real IdP.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metadata extraction is regex-based — misses prices behind contact forms. Claude tool-use with schema is the upgrade.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5303520" cy="457200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7" name="Shape 5"/>
          <p:cNvSpPr/>
          <p:nvPr/>
        </p:nvSpPr>
        <p:spPr>
          <a:xfrm>
            <a:off x="6309360" y="1783080"/>
            <a:ext cx="73152" cy="4572000"/>
          </a:xfrm>
          <a:prstGeom prst="rect">
            <a:avLst/>
          </a:prstGeom>
          <a:solidFill>
            <a:srgbClr val="B8893A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90 DAYS AT PASHA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88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1–2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37960" y="2606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legal / procurement to pick the highest-pain document type. Audit 50 real documents.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37960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88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3–6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3383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working contract clause Q&amp;A on a single contract type. Eval set built from real cases.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88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7–10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4160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structured extraction (Claude tool-use) for fact-bearing fields. Replace regex metadata.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4663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88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11–12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4937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observability — OpenTelemetry traces, per-stage latency, cost-per-query dashboards.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88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5715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eval against a growing, category-balanced test set. CI gate on faithfulness regression.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Ismat Samadov  ·  ismatsamadov.com  ·  github.com/ismatsamadov/real_estate_rag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554480"/>
            <a:ext cx="164592" cy="164592"/>
          </a:xfrm>
          <a:prstGeom prst="ellipse">
            <a:avLst/>
          </a:prstGeom>
          <a:solidFill>
            <a:srgbClr val="B8893A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148132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Happy to go deeper.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777240" y="3291840"/>
            <a:ext cx="1097280" cy="36576"/>
          </a:xfrm>
          <a:prstGeom prst="rect">
            <a:avLst/>
          </a:prstGeom>
          <a:solidFill>
            <a:srgbClr val="B8893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Ismat Samadov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9456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ismatsamadov.com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526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github.com/ismatsamadov/real_estate_rag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4937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94560" y="4937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ismetsemedov@gmail.com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for the time.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Ismat Samadov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Estate RAG — pasharealestate.az</dc:title>
  <dc:subject>PptxGenJS Presentation</dc:subject>
  <dc:creator>Ismat Samadov</dc:creator>
  <cp:lastModifiedBy>Ismat Samadov</cp:lastModifiedBy>
  <cp:revision>1</cp:revision>
  <dcterms:created xsi:type="dcterms:W3CDTF">2026-05-20T10:12:16Z</dcterms:created>
  <dcterms:modified xsi:type="dcterms:W3CDTF">2026-05-20T10:12:16Z</dcterms:modified>
</cp:coreProperties>
</file>